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3A63C"/>
                </a:solidFill>
                <a:latin typeface="Yu Gothic"/>
              </a:rPr>
              <a:t>BHQ株式会社 様 向けご紹介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Yu Gothic"/>
              </a:rPr>
              <a:t>AZUMAYA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B7F9E"/>
                </a:solidFill>
                <a:latin typeface="Yu Gothic"/>
              </a:rPr>
              <a:t>東屋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31920"/>
            <a:ext cx="457200" cy="41148"/>
          </a:xfrm>
          <a:prstGeom prst="rect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FFFFFF"/>
                </a:solidFill>
                <a:latin typeface="Yu Gothic"/>
              </a:rPr>
              <a:t>「20分で脳をリブートする」ポッド型回復施設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9D3E3"/>
                </a:solidFill>
                <a:latin typeface="Yu Gothic"/>
              </a:rPr>
              <a:t>回復インフラ（“Cognitive Reset Infrastructure”）というカテゴリーの創出を目指して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3A6"/>
                </a:solidFill>
                <a:latin typeface="Yu Gothic"/>
              </a:rPr>
              <a:t>Azumaya Innovations合同会社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093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3A6"/>
                </a:solidFill>
                <a:latin typeface="Yu Gothic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THE PROBLEM ｜ 課題提起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E"/>
                </a:solidFill>
                <a:latin typeface="Yu Gothic"/>
              </a:rPr>
              <a:t>現代人の疲労と睡眠負債という社会課題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3A6"/>
                </a:solidFill>
                <a:latin typeface="Yu Gothic"/>
              </a:rPr>
              <a:t>AI時代の知的労働環境において、回復の欠如が構造的な課題になっている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291840" cy="73152"/>
          </a:xfrm>
          <a:prstGeom prst="rect">
            <a:avLst/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41B2E"/>
                </a:solidFill>
                <a:latin typeface="Yu Gothic"/>
              </a:rPr>
              <a:t>最下位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日本の平均睡眠時間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（OECD33か国中）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28600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286000"/>
            <a:ext cx="3291840" cy="73152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41B2E"/>
                </a:solidFill>
                <a:latin typeface="Yu Gothic"/>
              </a:rPr>
              <a:t>15兆円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918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睡眠不足による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経済損失（国内推計）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286000"/>
            <a:ext cx="3291840" cy="173736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2286000"/>
            <a:ext cx="3291840" cy="73152"/>
          </a:xfrm>
          <a:prstGeom prst="rect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5603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41B2E"/>
                </a:solidFill>
                <a:latin typeface="Yu Gothic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2918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慢性的な疲労を抱える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433"/>
                </a:solidFill>
                <a:latin typeface="Yu Gothic"/>
              </a:rPr>
              <a:t>労働者の割合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B2E"/>
                </a:solidFill>
                <a:latin typeface="Yu Gothic"/>
              </a:rPr>
              <a:t>背景にある3つの構造変化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855464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4573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AI時代における知的労働者の認知的疲労の増加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239512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9784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人的資本経営・健康経営への注目の高まり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623559"/>
            <a:ext cx="109728" cy="109728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1383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433"/>
                </a:solidFill>
                <a:latin typeface="Yu Gothic"/>
              </a:rPr>
              <a:t>生産性低下に対する企業側の危機感の高まり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  |  Prepared for BHQ株式会社様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SOLUTION ｜ プロダクト概要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Yu Gothic"/>
              </a:rPr>
              <a:t>密閉空間で、脳を休ませる。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6B7F9E"/>
                </a:solidFill>
                <a:latin typeface="Yu Gothic"/>
              </a:rPr>
              <a:t>外部刺激を遮断した密閉空間で、20分の回復体験を届けるポッド型施設</a:t>
            </a:r>
          </a:p>
        </p:txBody>
      </p:sp>
      <p:sp>
        <p:nvSpPr>
          <p:cNvPr id="5" name="Oval 4"/>
          <p:cNvSpPr/>
          <p:nvPr/>
        </p:nvSpPr>
        <p:spPr>
          <a:xfrm>
            <a:off x="1508760" y="2743200"/>
            <a:ext cx="640080" cy="640080"/>
          </a:xfrm>
          <a:prstGeom prst="ellipse">
            <a:avLst/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2377440" cy="502920"/>
          </a:xfrm>
          <a:prstGeom prst="roundRect">
            <a:avLst>
              <a:gd name="adj" fmla="val 15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密閉空間</a:t>
            </a:r>
          </a:p>
        </p:txBody>
      </p:sp>
      <p:sp>
        <p:nvSpPr>
          <p:cNvPr id="8" name="Oval 7"/>
          <p:cNvSpPr/>
          <p:nvPr/>
        </p:nvSpPr>
        <p:spPr>
          <a:xfrm>
            <a:off x="4160520" y="2743200"/>
            <a:ext cx="640080" cy="640080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39" y="3566160"/>
            <a:ext cx="2377440" cy="502920"/>
          </a:xfrm>
          <a:prstGeom prst="roundRect">
            <a:avLst>
              <a:gd name="adj" fmla="val 15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35661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光</a:t>
            </a:r>
          </a:p>
        </p:txBody>
      </p:sp>
      <p:sp>
        <p:nvSpPr>
          <p:cNvPr id="11" name="Oval 10"/>
          <p:cNvSpPr/>
          <p:nvPr/>
        </p:nvSpPr>
        <p:spPr>
          <a:xfrm>
            <a:off x="6812280" y="2743200"/>
            <a:ext cx="640080" cy="640080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0" y="3566160"/>
            <a:ext cx="2377440" cy="502920"/>
          </a:xfrm>
          <a:prstGeom prst="roundRect">
            <a:avLst>
              <a:gd name="adj" fmla="val 15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661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音</a:t>
            </a:r>
          </a:p>
        </p:txBody>
      </p:sp>
      <p:sp>
        <p:nvSpPr>
          <p:cNvPr id="14" name="Oval 13"/>
          <p:cNvSpPr/>
          <p:nvPr/>
        </p:nvSpPr>
        <p:spPr>
          <a:xfrm>
            <a:off x="9464040" y="2743200"/>
            <a:ext cx="640080" cy="640080"/>
          </a:xfrm>
          <a:prstGeom prst="ellipse">
            <a:avLst/>
          </a:prstGeom>
          <a:solidFill>
            <a:srgbClr val="8B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59" y="3566160"/>
            <a:ext cx="2377440" cy="502920"/>
          </a:xfrm>
          <a:prstGeom prst="roundRect">
            <a:avLst>
              <a:gd name="adj" fmla="val 15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59" y="35661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Yu Gothic"/>
              </a:rPr>
              <a:t>香り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1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28032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F9E"/>
                </a:solidFill>
                <a:latin typeface="Yu Gothic"/>
              </a:rPr>
              <a:t>※「回復」「リブート」は生理学的効果を保証するものではなく、体験設計上のコンセプトを指す表現です。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F9E"/>
                </a:solidFill>
                <a:latin typeface="Yu Gothic"/>
              </a:rPr>
              <a:t>密閉空間設計はAzumaya独自の差別化要素であり、その他の要素は外部技術・提携先に依存します。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  |  Prepared for BHQ株式会社様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CURRENT STATUS ｜ 現状のステータス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E"/>
                </a:solidFill>
                <a:latin typeface="Yu Gothic"/>
              </a:rPr>
              <a:t>実装状況・検証状況（正直な現在地）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91056"/>
            <a:ext cx="146304" cy="146304"/>
          </a:xfrm>
          <a:prstGeom prst="ellipse">
            <a:avLst/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2704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433"/>
                </a:solidFill>
                <a:latin typeface="Yu Gothic"/>
              </a:rPr>
              <a:t>達成済み</a:t>
            </a:r>
          </a:p>
        </p:txBody>
      </p:sp>
      <p:sp>
        <p:nvSpPr>
          <p:cNvPr id="6" name="Oval 5"/>
          <p:cNvSpPr/>
          <p:nvPr/>
        </p:nvSpPr>
        <p:spPr>
          <a:xfrm>
            <a:off x="1975104" y="1591056"/>
            <a:ext cx="146304" cy="146304"/>
          </a:xfrm>
          <a:prstGeom prst="ellips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12848" y="152704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433"/>
                </a:solidFill>
                <a:latin typeface="Yu Gothic"/>
              </a:rPr>
              <a:t>進行中</a:t>
            </a:r>
          </a:p>
        </p:txBody>
      </p:sp>
      <p:sp>
        <p:nvSpPr>
          <p:cNvPr id="8" name="Oval 7"/>
          <p:cNvSpPr/>
          <p:nvPr/>
        </p:nvSpPr>
        <p:spPr>
          <a:xfrm>
            <a:off x="3310128" y="1591056"/>
            <a:ext cx="146304" cy="146304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527048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2433"/>
                </a:solidFill>
                <a:latin typeface="Yu Gothic"/>
              </a:rPr>
              <a:t>未着手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10058400" cy="512064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12264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B2E"/>
                </a:solidFill>
                <a:latin typeface="Yu Gothic"/>
              </a:rPr>
              <a:t>密閉空間デザイン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112264"/>
            <a:ext cx="4434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2433"/>
                </a:solidFill>
                <a:latin typeface="Yu Gothic"/>
              </a:rPr>
              <a:t>Azumaya独自の差別化要素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1488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14884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達成済み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60904"/>
            <a:ext cx="10058400" cy="512064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15768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B2E"/>
                </a:solidFill>
                <a:latin typeface="Yu Gothic"/>
              </a:rPr>
              <a:t>スケールプロトタイプ（縮小模型）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715768"/>
            <a:ext cx="4434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2433"/>
                </a:solidFill>
                <a:latin typeface="Yu Gothic"/>
              </a:rPr>
              <a:t>積層造形により製作。量産版は未着手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75234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75234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達成済み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64408"/>
            <a:ext cx="10058400" cy="512064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19272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B2E"/>
                </a:solidFill>
                <a:latin typeface="Yu Gothic"/>
              </a:rPr>
              <a:t>光・音・香りの体験設計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319272"/>
            <a:ext cx="4434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2433"/>
                </a:solidFill>
                <a:latin typeface="Yu Gothic"/>
              </a:rPr>
              <a:t>※スケールプロトタイプ（ver.1）の範囲。量産版への実装は今後の課題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3558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335584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達成済み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67912"/>
            <a:ext cx="10058400" cy="512064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22776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B2E"/>
                </a:solidFill>
                <a:latin typeface="Yu Gothic"/>
              </a:rPr>
              <a:t>ELF技術（回復体験の向上）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922776"/>
            <a:ext cx="4434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2433"/>
                </a:solidFill>
                <a:latin typeface="Yu Gothic"/>
              </a:rPr>
              <a:t>外部提携先の技術。Azumaya独自技術ではない。導入に向け連携中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39593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3959352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進行中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471416"/>
            <a:ext cx="10058400" cy="512064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26280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B2E"/>
                </a:solidFill>
                <a:latin typeface="Yu Gothic"/>
              </a:rPr>
              <a:t>企業・空港・大学等へのPoC候補先選定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526280"/>
            <a:ext cx="4434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2433"/>
                </a:solidFill>
                <a:latin typeface="Yu Gothic"/>
              </a:rPr>
              <a:t>ヒアリング活動中。有償契約・LOI・導入実績は現時点でゼロ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45628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456285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進行中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074920"/>
            <a:ext cx="10058400" cy="512064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129784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B2E"/>
                </a:solidFill>
                <a:latin typeface="Yu Gothic"/>
              </a:rPr>
              <a:t>量産版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129784"/>
            <a:ext cx="4434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2433"/>
                </a:solidFill>
                <a:latin typeface="Yu Gothic"/>
              </a:rPr>
              <a:t>デザインは完了しているが、製造は未着手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51663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51663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未着手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678424"/>
            <a:ext cx="10058400" cy="512064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733288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1B2E"/>
                </a:solidFill>
                <a:latin typeface="Yu Gothic"/>
              </a:rPr>
              <a:t>センシング／データSaaS機能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5733288"/>
            <a:ext cx="4434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E2433"/>
                </a:solidFill>
                <a:latin typeface="Yu Gothic"/>
              </a:rPr>
              <a:t>計画中の機能。現時点では未実装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5400" y="576986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5400" y="576986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未着手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  |  Prepared for BHQ株式会社様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BUSINESS MODEL ｜ マネタイズ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E"/>
                </a:solidFill>
                <a:latin typeface="Yu Gothic"/>
              </a:rPr>
              <a:t>三層の収益モデル（想定）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6596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4C8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現行モデル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① ハードウェア販売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41B2E"/>
                </a:solidFill>
                <a:latin typeface="Yu Gothic"/>
              </a:rPr>
              <a:t>150万円 ／台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E2433"/>
                </a:solidFill>
                <a:latin typeface="Yu Gothic"/>
              </a:rPr>
              <a:t>現時点で唯一提示している価格モデル（想定単価）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965960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想定・目標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6888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② リース／サブスクリプション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41B2E"/>
                </a:solidFill>
                <a:latin typeface="Yu Gothic"/>
              </a:rPr>
              <a:t>月額4万円 × 60ヶ月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02336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E2433"/>
                </a:solidFill>
                <a:latin typeface="Yu Gothic"/>
              </a:rPr>
              <a:t>リース会社パートナー経由での提供を想定（未確定）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73736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1965960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965960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Yu Gothic"/>
              </a:rPr>
              <a:t>計画中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46888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③ データSaaS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291839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41B2E"/>
                </a:solidFill>
                <a:latin typeface="Yu Gothic"/>
              </a:rPr>
              <a:t>料金未設定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02336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E2433"/>
                </a:solidFill>
                <a:latin typeface="Yu Gothic"/>
              </a:rPr>
              <a:t>生体データを活用した付加価値提供を将来的な目標として計画中（現時点未実装）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A93A6"/>
                </a:solidFill>
                <a:latin typeface="Yu Gothic"/>
              </a:rPr>
              <a:t>※ 金額・条件はいずれも想定・目標であり、確定した実績や契約に基づくものではありません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  |  Prepared for BHQ株式会社様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TARGET MARKET ｜ ターゲット市場・導入シーン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41B2E"/>
                </a:solidFill>
                <a:latin typeface="Yu Gothic"/>
              </a:rPr>
              <a:t>法人向け導入シーン（想定）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E"/>
                </a:solidFill>
                <a:latin typeface="Yu Gothic"/>
              </a:rPr>
              <a:t>オフィス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2433"/>
                </a:solidFill>
                <a:latin typeface="Yu Gothic"/>
              </a:rPr>
              <a:t>健康経営を推進する企業の休憩・回復スペースとして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8288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E"/>
                </a:solidFill>
                <a:latin typeface="Yu Gothic"/>
              </a:rPr>
              <a:t>空港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65176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2433"/>
                </a:solidFill>
                <a:latin typeface="Yu Gothic"/>
              </a:rPr>
              <a:t>移動疲労・待ち時間における回復体験として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E7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B2E"/>
                </a:solidFill>
                <a:latin typeface="Yu Gothic"/>
              </a:rPr>
              <a:t>大学・研究機関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5176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2433"/>
                </a:solidFill>
                <a:latin typeface="Yu Gothic"/>
              </a:rPr>
              <a:t>学生・研究者向けの回復スペースとして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1772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FB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5A10"/>
                </a:solidFill>
                <a:latin typeface="Yu Gothic"/>
              </a:rPr>
              <a:t>現時点で導入実績はゼロ。ヒアリング・PoC候補先選定を進めている段階です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  |  Prepared for BHQ株式会社様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3A63C"/>
                </a:solidFill>
                <a:latin typeface="Yu Gothic"/>
              </a:rPr>
              <a:t>NEXT STEPS ｜ 今後の進め方について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Yu Gothic"/>
              </a:rPr>
              <a:t>貴社との事業共創の可能性について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7F9E"/>
                </a:solidFill>
                <a:latin typeface="Yu Gothic"/>
              </a:rPr>
              <a:t>率直な意見交換から始めさせていただければと考えています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Yu Gothic"/>
              </a:rPr>
              <a:t>現状のスケールプロトタイプを踏まえたディスカッション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611879"/>
            <a:ext cx="365760" cy="365760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1187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1187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Yu Gothic"/>
              </a:rPr>
              <a:t>貴社の知見・ネットワークとの事業共創の可能性の検討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E3A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B2E"/>
                </a:solidFill>
                <a:latin typeface="Yu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FFFFF"/>
                </a:solidFill>
                <a:latin typeface="Yu Gothic"/>
              </a:rPr>
              <a:t>詳細情報のご共有・追加の意見交換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3A6"/>
                </a:solidFill>
                <a:latin typeface="Yu Gothic"/>
              </a:rPr>
              <a:t>Azumaya Innovations合同会社　｜　azumayapod.com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Azumaya Innovations LLC  |  Confidential  |  Prepared for BHQ株式会社様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93A6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
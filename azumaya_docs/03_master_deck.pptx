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1D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914400"/>
            <a:ext cx="2377440" cy="2377440"/>
          </a:xfrm>
          <a:prstGeom prst="ellipse">
            <a:avLst/>
          </a:prstGeom>
          <a:solidFill>
            <a:srgbClr val="24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FFFFFF"/>
                </a:solidFill>
                <a:latin typeface="Yu Gothic"/>
              </a:rPr>
              <a:t>AZUMAYA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8328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6B7F9E"/>
                </a:solidFill>
                <a:latin typeface="Yu Gothic"/>
              </a:rPr>
              <a:t>東屋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977639"/>
            <a:ext cx="502920" cy="41148"/>
          </a:xfrm>
          <a:prstGeom prst="rect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FFFFF"/>
                </a:solidFill>
                <a:latin typeface="Yu Gothic"/>
              </a:rPr>
              <a:t>「20分で脳をリブートする」ポッド型回復施設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7091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C9D3E3"/>
                </a:solidFill>
                <a:latin typeface="Yu Gothic"/>
              </a:rPr>
              <a:t>“Cognitive Reset Infrastructure” というカテゴリーの創出を目指して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989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93A6"/>
                </a:solidFill>
                <a:latin typeface="Yu Gothic"/>
              </a:rPr>
              <a:t>Azumaya Innovations合同会社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2636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A6"/>
                </a:solidFill>
                <a:latin typeface="Yu Gothic"/>
              </a:rPr>
              <a:t>Master Deck ｜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63C"/>
                </a:solidFill>
                <a:latin typeface="Yu Gothic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41B2E"/>
                </a:solidFill>
                <a:latin typeface="Yu Gothic"/>
              </a:rPr>
              <a:t>認知疲労と生産性低下は、社会全体の課題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93A6"/>
                </a:solidFill>
                <a:latin typeface="Yu Gothic"/>
              </a:rPr>
              <a:t>AI時代の知的労働環境において、回復の欠如が構造的な社会課題になっている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291840" cy="82296"/>
          </a:xfrm>
          <a:prstGeom prst="rect">
            <a:avLst/>
          </a:prstGeom>
          <a:solidFill>
            <a:srgbClr val="4C8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41B2E"/>
                </a:solidFill>
                <a:latin typeface="Yu Gothic"/>
              </a:rPr>
              <a:t>最下位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日本の平均睡眠時間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（OECD33か国中）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377440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2377440"/>
            <a:ext cx="3291840" cy="82296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69748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41B2E"/>
                </a:solidFill>
                <a:latin typeface="Yu Gothic"/>
              </a:rPr>
              <a:t>15兆円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520440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睡眠不足による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経済損失（国内推計）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377440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2377440"/>
            <a:ext cx="3291840" cy="82296"/>
          </a:xfrm>
          <a:prstGeom prst="rect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69748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41B2E"/>
                </a:solidFill>
                <a:latin typeface="Yu Gothic"/>
              </a:rP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520440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慢性的な疲労を抱える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労働者の割合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B2E"/>
                </a:solidFill>
                <a:latin typeface="Yu Gothic"/>
              </a:rPr>
              <a:t>背景にある3つの構造変化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129783"/>
            <a:ext cx="109728" cy="109728"/>
          </a:xfrm>
          <a:prstGeom prst="ellipse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20056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AI時代における知的労働者の認知的疲労の増加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513831"/>
            <a:ext cx="109728" cy="109728"/>
          </a:xfrm>
          <a:prstGeom prst="ellipse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404104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人的資本経営・健康経営への注目の高まり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5897879"/>
            <a:ext cx="109728" cy="109728"/>
          </a:xfrm>
          <a:prstGeom prst="ellipse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78815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生産性低下に対する企業側の危機感の高まり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Azumaya Innovations LLC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63C"/>
                </a:solidFill>
                <a:latin typeface="Yu Gothic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Yu Gothic"/>
              </a:rPr>
              <a:t>20分で、脳をリブートする。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B7F9E"/>
                </a:solidFill>
                <a:latin typeface="Yu Gothic"/>
              </a:rPr>
              <a:t>外部刺激を遮断した密閉空間で、短時間の回復体験を届けるポッド型施設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93A6"/>
                </a:solidFill>
                <a:latin typeface="Yu Gothic"/>
              </a:rPr>
              <a:t>全世代・性別を問わない、ニュートラルなコンセプト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3566160"/>
            <a:ext cx="731520" cy="731520"/>
          </a:xfrm>
          <a:prstGeom prst="ellipse">
            <a:avLst/>
          </a:prstGeom>
          <a:solidFill>
            <a:srgbClr val="4C8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E2433"/>
                </a:solidFill>
                <a:latin typeface="Yu Gothic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80560"/>
            <a:ext cx="2377440" cy="548640"/>
          </a:xfrm>
          <a:prstGeom prst="roundRect">
            <a:avLst>
              <a:gd name="adj" fmla="val 15000"/>
            </a:avLst>
          </a:prstGeom>
          <a:solidFill>
            <a:srgbClr val="1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Yu Gothic"/>
              </a:rPr>
              <a:t>密閉空間</a:t>
            </a:r>
          </a:p>
        </p:txBody>
      </p:sp>
      <p:sp>
        <p:nvSpPr>
          <p:cNvPr id="10" name="Oval 9"/>
          <p:cNvSpPr/>
          <p:nvPr/>
        </p:nvSpPr>
        <p:spPr>
          <a:xfrm>
            <a:off x="4114799" y="3566160"/>
            <a:ext cx="731520" cy="731520"/>
          </a:xfrm>
          <a:prstGeom prst="ellipse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39" y="356616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E2433"/>
                </a:solidFill>
                <a:latin typeface="Yu Gothic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39" y="4480560"/>
            <a:ext cx="2377440" cy="548640"/>
          </a:xfrm>
          <a:prstGeom prst="roundRect">
            <a:avLst>
              <a:gd name="adj" fmla="val 15000"/>
            </a:avLst>
          </a:prstGeom>
          <a:solidFill>
            <a:srgbClr val="1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39" y="44805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Yu Gothic"/>
              </a:rPr>
              <a:t>光</a:t>
            </a:r>
          </a:p>
        </p:txBody>
      </p:sp>
      <p:sp>
        <p:nvSpPr>
          <p:cNvPr id="14" name="Oval 13"/>
          <p:cNvSpPr/>
          <p:nvPr/>
        </p:nvSpPr>
        <p:spPr>
          <a:xfrm>
            <a:off x="6766559" y="3566160"/>
            <a:ext cx="731520" cy="731520"/>
          </a:xfrm>
          <a:prstGeom prst="ellipse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356616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E2433"/>
                </a:solidFill>
                <a:latin typeface="Yu Gothic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4480560"/>
            <a:ext cx="2377440" cy="548640"/>
          </a:xfrm>
          <a:prstGeom prst="roundRect">
            <a:avLst>
              <a:gd name="adj" fmla="val 15000"/>
            </a:avLst>
          </a:prstGeom>
          <a:solidFill>
            <a:srgbClr val="1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4805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Yu Gothic"/>
              </a:rPr>
              <a:t>音</a:t>
            </a:r>
          </a:p>
        </p:txBody>
      </p:sp>
      <p:sp>
        <p:nvSpPr>
          <p:cNvPr id="18" name="Oval 17"/>
          <p:cNvSpPr/>
          <p:nvPr/>
        </p:nvSpPr>
        <p:spPr>
          <a:xfrm>
            <a:off x="9418319" y="3566160"/>
            <a:ext cx="731520" cy="731520"/>
          </a:xfrm>
          <a:prstGeom prst="ellipse">
            <a:avLst/>
          </a:prstGeom>
          <a:solidFill>
            <a:srgbClr val="8B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59" y="356616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E2433"/>
                </a:solidFill>
                <a:latin typeface="Yu Gothic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59" y="4480560"/>
            <a:ext cx="2377440" cy="548640"/>
          </a:xfrm>
          <a:prstGeom prst="roundRect">
            <a:avLst>
              <a:gd name="adj" fmla="val 15000"/>
            </a:avLst>
          </a:prstGeom>
          <a:solidFill>
            <a:srgbClr val="1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59" y="44805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Yu Gothic"/>
              </a:rPr>
              <a:t>香り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Azumaya Innovations LLC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63C"/>
                </a:solidFill>
                <a:latin typeface="Yu Gothic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41B2E"/>
                </a:solidFill>
                <a:latin typeface="Yu Gothic"/>
              </a:rPr>
              <a:t>現状のステータス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636776"/>
            <a:ext cx="146304" cy="146304"/>
          </a:xfrm>
          <a:prstGeom prst="ellipse">
            <a:avLst/>
          </a:prstGeom>
          <a:solidFill>
            <a:srgbClr val="4C8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572768"/>
            <a:ext cx="530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A93A6"/>
                </a:solidFill>
                <a:latin typeface="Yu Gothic"/>
              </a:rPr>
              <a:t>完了</a:t>
            </a:r>
          </a:p>
        </p:txBody>
      </p:sp>
      <p:sp>
        <p:nvSpPr>
          <p:cNvPr id="6" name="Oval 5"/>
          <p:cNvSpPr/>
          <p:nvPr/>
        </p:nvSpPr>
        <p:spPr>
          <a:xfrm>
            <a:off x="1636775" y="1636776"/>
            <a:ext cx="146304" cy="146304"/>
          </a:xfrm>
          <a:prstGeom prst="ellipse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19" y="1572768"/>
            <a:ext cx="18973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A93A6"/>
                </a:solidFill>
                <a:latin typeface="Yu Gothic"/>
              </a:rPr>
              <a:t>スケールプロトタイプで実装済み</a:t>
            </a:r>
          </a:p>
        </p:txBody>
      </p:sp>
      <p:sp>
        <p:nvSpPr>
          <p:cNvPr id="8" name="Oval 7"/>
          <p:cNvSpPr/>
          <p:nvPr/>
        </p:nvSpPr>
        <p:spPr>
          <a:xfrm>
            <a:off x="4000500" y="1636776"/>
            <a:ext cx="146304" cy="146304"/>
          </a:xfrm>
          <a:prstGeom prst="ellipse">
            <a:avLst/>
          </a:prstGeom>
          <a:solidFill>
            <a:srgbClr val="8B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38244" y="1572768"/>
            <a:ext cx="10561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A93A6"/>
                </a:solidFill>
                <a:latin typeface="Yu Gothic"/>
              </a:rPr>
              <a:t>外部提携先技術</a:t>
            </a:r>
          </a:p>
        </p:txBody>
      </p:sp>
      <p:sp>
        <p:nvSpPr>
          <p:cNvPr id="10" name="Oval 9"/>
          <p:cNvSpPr/>
          <p:nvPr/>
        </p:nvSpPr>
        <p:spPr>
          <a:xfrm>
            <a:off x="5522976" y="1636776"/>
            <a:ext cx="146304" cy="146304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572768"/>
            <a:ext cx="10561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A93A6"/>
                </a:solidFill>
                <a:latin typeface="Yu Gothic"/>
              </a:rPr>
              <a:t>計画中／未着手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48840"/>
            <a:ext cx="10058400" cy="548640"/>
          </a:xfrm>
          <a:prstGeom prst="roundRect">
            <a:avLst>
              <a:gd name="adj" fmla="val 8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22199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B2E"/>
                </a:solidFill>
                <a:latin typeface="Yu Gothic"/>
              </a:rPr>
              <a:t>密閉空間デザイン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221992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433"/>
                </a:solidFill>
                <a:latin typeface="Yu Gothic"/>
              </a:rPr>
              <a:t>デザイン完了。Azumaya独自の差別化要素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226771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4C8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2267712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完了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07208"/>
            <a:ext cx="10058400" cy="548640"/>
          </a:xfrm>
          <a:prstGeom prst="roundRect">
            <a:avLst>
              <a:gd name="adj" fmla="val 8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8803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B2E"/>
                </a:solidFill>
                <a:latin typeface="Yu Gothic"/>
              </a:rPr>
              <a:t>スケールプロトタイプ（縮小模型）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88036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433"/>
                </a:solidFill>
                <a:latin typeface="Yu Gothic"/>
              </a:rPr>
              <a:t>積層造形により製作済み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29260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4C8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292608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完了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465576"/>
            <a:ext cx="10058400" cy="548640"/>
          </a:xfrm>
          <a:prstGeom prst="roundRect">
            <a:avLst>
              <a:gd name="adj" fmla="val 8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53872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B2E"/>
                </a:solidFill>
                <a:latin typeface="Yu Gothic"/>
              </a:rPr>
              <a:t>光・音・香りの体験設計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538728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433"/>
                </a:solidFill>
                <a:latin typeface="Yu Gothic"/>
              </a:rPr>
              <a:t>スケールプロトタイプ（ver.1）にて実装済み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35844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0" y="3584448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実装済み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123944"/>
            <a:ext cx="10058400" cy="548640"/>
          </a:xfrm>
          <a:prstGeom prst="roundRect">
            <a:avLst>
              <a:gd name="adj" fmla="val 8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197096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B2E"/>
                </a:solidFill>
                <a:latin typeface="Yu Gothic"/>
              </a:rPr>
              <a:t>量産版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197096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433"/>
                </a:solidFill>
                <a:latin typeface="Yu Gothic"/>
              </a:rPr>
              <a:t>デザインは完了しているが、量産版の製造は未着手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400" y="424281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5400" y="424281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未着手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782312"/>
            <a:ext cx="10058400" cy="548640"/>
          </a:xfrm>
          <a:prstGeom prst="roundRect">
            <a:avLst>
              <a:gd name="adj" fmla="val 8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855464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B2E"/>
                </a:solidFill>
                <a:latin typeface="Yu Gothic"/>
              </a:rPr>
              <a:t>ELF技術（回復体験の向上）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855464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433"/>
                </a:solidFill>
                <a:latin typeface="Yu Gothic"/>
              </a:rPr>
              <a:t>外部提携先の技術。Azumaya独自技術ではない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15400" y="4901183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8B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15400" y="4901183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提携先技術・導入予定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440679"/>
            <a:ext cx="10058400" cy="548640"/>
          </a:xfrm>
          <a:prstGeom prst="roundRect">
            <a:avLst>
              <a:gd name="adj" fmla="val 8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513831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B2E"/>
                </a:solidFill>
                <a:latin typeface="Yu Gothic"/>
              </a:rPr>
              <a:t>センシング／データSaaS機能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5513831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433"/>
                </a:solidFill>
                <a:latin typeface="Yu Gothic"/>
              </a:rPr>
              <a:t>生体データ活用によるSaaS化は計画中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15400" y="5559551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5400" y="5559551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計画中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Azumaya Innovations LLC  |  Confidential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63C"/>
                </a:solidFill>
                <a:latin typeface="Yu Gothic"/>
              </a:rPr>
              <a:t>WHY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41B2E"/>
                </a:solidFill>
                <a:latin typeface="Yu Gothic"/>
              </a:rPr>
              <a:t>「休ませる」という、逆方向のアプローチ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029200" cy="4023360"/>
          </a:xfrm>
          <a:prstGeom prst="roundRect">
            <a:avLst>
              <a:gd name="adj" fmla="val 5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2E"/>
                </a:solidFill>
                <a:latin typeface="Yu Gothic"/>
              </a:rPr>
              <a:t>一般的なリカバリー系ソリューション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660904"/>
            <a:ext cx="109728" cy="109728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心拍・脳波などを刺激し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438144"/>
            <a:ext cx="109728" cy="109728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パフォーマンスを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“高める”方向で設計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215383"/>
            <a:ext cx="109728" cy="109728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11480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外部からの能動的な介入が前提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737360"/>
            <a:ext cx="5029200" cy="4023360"/>
          </a:xfrm>
          <a:prstGeom prst="roundRect">
            <a:avLst>
              <a:gd name="adj" fmla="val 5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965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3A63C"/>
                </a:solidFill>
                <a:latin typeface="Yu Gothic"/>
              </a:rPr>
              <a:t>Azumaya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660904"/>
            <a:ext cx="109728" cy="109728"/>
          </a:xfrm>
          <a:prstGeom prst="ellipse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56032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Yu Gothic"/>
              </a:rPr>
              <a:t>密閉空間で外部刺激を遮断し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3438144"/>
            <a:ext cx="109728" cy="109728"/>
          </a:xfrm>
          <a:prstGeom prst="ellipse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33756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Yu Gothic"/>
              </a:rPr>
              <a:t>脳を“休ませる”方向で設計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4215383"/>
            <a:ext cx="109728" cy="109728"/>
          </a:xfrm>
          <a:prstGeom prst="ellipse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1480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Yu Gothic"/>
              </a:rPr>
              <a:t>何もしないことを、設計で実現する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89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93A6"/>
                </a:solidFill>
                <a:latin typeface="Yu Gothic"/>
              </a:rPr>
              <a:t>Azumaya独自の差別化要素は、密閉空間設計のみ。その他は外部技術・提携先に依存する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Azumaya Innovations LLC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63C"/>
                </a:solidFill>
                <a:latin typeface="Yu Gothic"/>
              </a:rPr>
              <a:t>VALIDATION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41B2E"/>
                </a:solidFill>
                <a:latin typeface="Yu Gothic"/>
              </a:rPr>
              <a:t>検証活動の状況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93A6"/>
                </a:solidFill>
                <a:latin typeface="Yu Gothic"/>
              </a:rPr>
              <a:t>現時点は「実績」ではなく「進行中の活動」フェーズにある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10058400" cy="914400"/>
          </a:xfrm>
          <a:prstGeom prst="roundRect">
            <a:avLst>
              <a:gd name="adj" fmla="val 6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82296" cy="914400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2E"/>
                </a:solidFill>
                <a:latin typeface="Yu Gothic"/>
              </a:rPr>
              <a:t>ヒアリング活動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42316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E2433"/>
                </a:solidFill>
                <a:latin typeface="Yu Gothic"/>
              </a:rPr>
              <a:t>企業・空港・大学等のB2B候補先へのヒアリングを実施中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83280"/>
            <a:ext cx="10058400" cy="914400"/>
          </a:xfrm>
          <a:prstGeom prst="roundRect">
            <a:avLst>
              <a:gd name="adj" fmla="val 6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383280"/>
            <a:ext cx="82296" cy="914400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04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2E"/>
                </a:solidFill>
                <a:latin typeface="Yu Gothic"/>
              </a:rPr>
              <a:t>PoC候補先選定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52044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E2433"/>
                </a:solidFill>
                <a:latin typeface="Yu Gothic"/>
              </a:rPr>
              <a:t>PoC実施に向けた候補先の選定活動を実施中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80560"/>
            <a:ext cx="10058400" cy="914400"/>
          </a:xfrm>
          <a:prstGeom prst="roundRect">
            <a:avLst>
              <a:gd name="adj" fmla="val 6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480560"/>
            <a:ext cx="82296" cy="914400"/>
          </a:xfrm>
          <a:prstGeom prst="rect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177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2E"/>
                </a:solidFill>
                <a:latin typeface="Yu Gothic"/>
              </a:rPr>
              <a:t>Fビレッジとの実証検討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61772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E2433"/>
                </a:solidFill>
                <a:latin typeface="Yu Gothic"/>
              </a:rPr>
              <a:t>HFXプログラム採択を前提とした実証を協議・検討中（交渉段階、正式契約・LOIは未締結）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32120"/>
            <a:ext cx="10058400" cy="594360"/>
          </a:xfrm>
          <a:prstGeom prst="roundRect">
            <a:avLst>
              <a:gd name="adj" fmla="val 10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95097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5A10"/>
                </a:solidFill>
                <a:latin typeface="Yu Gothic"/>
              </a:rPr>
              <a:t>有償契約・LOI・導入実績：現時点でゼロ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Azumaya Innovations LLC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63C"/>
                </a:solidFill>
                <a:latin typeface="Yu Gothic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41B2E"/>
                </a:solidFill>
                <a:latin typeface="Yu Gothic"/>
              </a:rPr>
              <a:t>収益モデル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4937760" cy="4114800"/>
          </a:xfrm>
          <a:prstGeom prst="roundRect">
            <a:avLst>
              <a:gd name="adj" fmla="val 5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6596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4C8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Yu Gothic"/>
              </a:rPr>
              <a:t>確定モデル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E"/>
                </a:solidFill>
                <a:latin typeface="Yu Gothic"/>
              </a:rPr>
              <a:t>ハードウェア販売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141B2E"/>
                </a:solidFill>
                <a:latin typeface="Yu Gothic"/>
              </a:rPr>
              <a:t>150万円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93A6"/>
                </a:solidFill>
                <a:latin typeface="Yu Gothic"/>
              </a:rPr>
              <a:t>／台（想定単価）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E2433"/>
                </a:solidFill>
                <a:latin typeface="Yu Gothic"/>
              </a:rPr>
              <a:t>現時点で確定している唯一の価格モデル。ファブレスによる製造体制で提供。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737360"/>
            <a:ext cx="5394960" cy="4114800"/>
          </a:xfrm>
          <a:prstGeom prst="roundRect">
            <a:avLst>
              <a:gd name="adj" fmla="val 5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0" y="196596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96596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Yu Gothic"/>
              </a:rPr>
              <a:t>仮説・試算（未確定）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5146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1B2E"/>
                </a:solidFill>
                <a:latin typeface="Yu Gothic"/>
              </a:rPr>
              <a:t>リースモデル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146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E2433"/>
                </a:solidFill>
                <a:latin typeface="Yu Gothic"/>
              </a:rPr>
              <a:t>月額4万円 × 60ヶ月（想定）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0175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1B2E"/>
                </a:solidFill>
                <a:latin typeface="Yu Gothic"/>
              </a:rPr>
              <a:t>ハード粗利率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0175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E2433"/>
                </a:solidFill>
                <a:latin typeface="Yu Gothic"/>
              </a:rPr>
              <a:t>33%（試算）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52043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1B2E"/>
                </a:solidFill>
                <a:latin typeface="Yu Gothic"/>
              </a:rPr>
              <a:t>データSaaS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52043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E2433"/>
                </a:solidFill>
                <a:latin typeface="Yu Gothic"/>
              </a:rPr>
              <a:t>将来的な導入を計画中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02335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1B2E"/>
                </a:solidFill>
                <a:latin typeface="Yu Gothic"/>
              </a:rPr>
              <a:t>5年後売上規模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02335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E2433"/>
                </a:solidFill>
                <a:latin typeface="Yu Gothic"/>
              </a:rPr>
              <a:t>10〜15億円（Phase別試算）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61772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8A5A10"/>
                </a:solidFill>
                <a:latin typeface="Yu Gothic"/>
              </a:rPr>
              <a:t>※ いずれも仮説・想定段階の試算であり、実績・確定契約に基づく数値ではない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Azumaya Innovations LLC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63C"/>
                </a:solidFill>
                <a:latin typeface="Yu Gothic"/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41B2E"/>
                </a:solidFill>
                <a:latin typeface="Yu Gothic"/>
              </a:rPr>
              <a:t>市場規模（TAM / SAM / SOM）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51076" y="1920240"/>
            <a:ext cx="8686800" cy="105156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6836" y="2029968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TAM　グローバル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6836" y="2359152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Yu Gothic"/>
              </a:rPr>
              <a:t>7,500億〜1.5兆円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22676" y="3200400"/>
            <a:ext cx="5943600" cy="1051560"/>
          </a:xfrm>
          <a:prstGeom prst="roundRect">
            <a:avLst>
              <a:gd name="adj" fmla="val 6000"/>
            </a:avLst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8436" y="331012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SAM　日本＋アジア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8436" y="3639312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Yu Gothic"/>
              </a:rPr>
              <a:t>150〜450億円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4276" y="4480560"/>
            <a:ext cx="3200400" cy="1051560"/>
          </a:xfrm>
          <a:prstGeom prst="roundRect">
            <a:avLst>
              <a:gd name="adj" fmla="val 6000"/>
            </a:avLst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0036" y="459028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SOM　初期ターゲット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0036" y="4919472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Yu Gothic"/>
              </a:rPr>
              <a:t>30〜80億円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064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A93A6"/>
                </a:solidFill>
                <a:latin typeface="Yu Gothic"/>
              </a:rPr>
              <a:t>※ 過去資料からの推計値を流用。算出根拠の一次資料は未整備のため、あくまで概算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Azumaya Innovations LLC  |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63C"/>
                </a:solidFill>
                <a:latin typeface="Yu Gothic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41B2E"/>
                </a:solidFill>
                <a:latin typeface="Yu Gothic"/>
              </a:rPr>
              <a:t>B2B展開の方針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200400" cy="1188720"/>
          </a:xfrm>
          <a:prstGeom prst="roundRect">
            <a:avLst>
              <a:gd name="adj" fmla="val 8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41B2E"/>
                </a:solidFill>
                <a:latin typeface="Yu Gothic"/>
              </a:rPr>
              <a:t>企業</a:t>
            </a:r>
          </a:p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41B2E"/>
                </a:solidFill>
                <a:latin typeface="Yu Gothic"/>
              </a:rPr>
              <a:t>（健康経営推進企業）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737360"/>
            <a:ext cx="3200400" cy="1188720"/>
          </a:xfrm>
          <a:prstGeom prst="roundRect">
            <a:avLst>
              <a:gd name="adj" fmla="val 8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173736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41B2E"/>
                </a:solidFill>
                <a:latin typeface="Yu Gothic"/>
              </a:rPr>
              <a:t>空港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737360"/>
            <a:ext cx="3200400" cy="1188720"/>
          </a:xfrm>
          <a:prstGeom prst="roundRect">
            <a:avLst>
              <a:gd name="adj" fmla="val 8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73736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41B2E"/>
                </a:solidFill>
                <a:latin typeface="Yu Gothic"/>
              </a:rPr>
              <a:t>大学・研究機関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B2E"/>
                </a:solidFill>
                <a:latin typeface="Yu Gothic"/>
              </a:rPr>
              <a:t>展開ステップ（想定）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57600"/>
            <a:ext cx="365760" cy="365760"/>
          </a:xfrm>
          <a:prstGeom prst="ellipse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657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ヒアリング・PoC候補先選定（現在地）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251960"/>
            <a:ext cx="365760" cy="365760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2519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直接営業＋リース会社パートナーとの拡大（想定）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846320"/>
            <a:ext cx="365760" cy="365760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46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46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実証データを活用した横展開（想定）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Azumaya Innovations LLC  |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63C"/>
                </a:solidFill>
                <a:latin typeface="Yu Gothic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Yu Gothic"/>
              </a:rPr>
              <a:t>実行ロードマップ（現実的な時間軸）</a:t>
            </a:r>
          </a:p>
        </p:txBody>
      </p:sp>
      <p:sp>
        <p:nvSpPr>
          <p:cNvPr id="4" name="Oval 3"/>
          <p:cNvSpPr/>
          <p:nvPr/>
        </p:nvSpPr>
        <p:spPr>
          <a:xfrm>
            <a:off x="1958187" y="2743200"/>
            <a:ext cx="457200" cy="457200"/>
          </a:xfrm>
          <a:prstGeom prst="ellipse">
            <a:avLst/>
          </a:prstGeom>
          <a:solidFill>
            <a:srgbClr val="4C8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067" y="2743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8067" y="352044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1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0947" y="37033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スケールプロトタイプ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0947" y="43434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F9E"/>
                </a:solidFill>
                <a:latin typeface="Yu Gothic"/>
              </a:rPr>
              <a:t>現在地。デザイン完了、ver.1実装済み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3795" y="2724912"/>
            <a:ext cx="1920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6B7F9E"/>
                </a:solidFill>
                <a:latin typeface="Yu Gothic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4564227" y="2743200"/>
            <a:ext cx="457200" cy="457200"/>
          </a:xfrm>
          <a:prstGeom prst="ellipse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4107" y="2743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4107" y="352044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1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6987" y="37033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量産版試作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6987" y="43434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F9E"/>
                </a:solidFill>
                <a:latin typeface="Yu Gothic"/>
              </a:rPr>
              <a:t>製造パートナーとの連携により具体化予定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9835" y="2724912"/>
            <a:ext cx="1920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6B7F9E"/>
                </a:solidFill>
                <a:latin typeface="Yu Gothic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7170267" y="2743200"/>
            <a:ext cx="457200" cy="457200"/>
          </a:xfrm>
          <a:prstGeom prst="ellipse">
            <a:avLst/>
          </a:prstGeom>
          <a:solidFill>
            <a:srgbClr val="8B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0147" y="2743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7" y="352044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1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3027" y="37033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PoC実施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43434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F9E"/>
                </a:solidFill>
                <a:latin typeface="Yu Gothic"/>
              </a:rPr>
              <a:t>選定した候補先での実証実施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5875" y="2724912"/>
            <a:ext cx="1920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6B7F9E"/>
                </a:solidFill>
                <a:latin typeface="Yu Gothic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9776307" y="2743200"/>
            <a:ext cx="457200" cy="457200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16187" y="2743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16187" y="352044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1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99067" y="37033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本格導入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9067" y="43434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F9E"/>
                </a:solidFill>
                <a:latin typeface="Yu Gothic"/>
              </a:rPr>
              <a:t>B2B顧客への本格展開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Azumaya Innovations LLC  |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63C"/>
                </a:solidFill>
                <a:latin typeface="Yu Gothic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41B2E"/>
                </a:solidFill>
                <a:latin typeface="Yu Gothic"/>
              </a:rPr>
              <a:t>リスクを見極める目と、実行する意志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2743200" cy="2743200"/>
          </a:xfrm>
          <a:prstGeom prst="roundRect">
            <a:avLst>
              <a:gd name="adj" fmla="val 8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2103120"/>
            <a:ext cx="1463040" cy="1463040"/>
          </a:xfrm>
          <a:prstGeom prst="ellipse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41B2E"/>
                </a:solidFill>
                <a:latin typeface="Yu Gothic"/>
              </a:rPr>
              <a:t>代表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B2E"/>
                </a:solidFill>
                <a:latin typeface="Yu Gothic"/>
              </a:rPr>
              <a:t>金融・監査業界で30年超のキャリア</a:t>
            </a:r>
          </a:p>
        </p:txBody>
      </p:sp>
      <p:sp>
        <p:nvSpPr>
          <p:cNvPr id="8" name="Oval 7"/>
          <p:cNvSpPr/>
          <p:nvPr/>
        </p:nvSpPr>
        <p:spPr>
          <a:xfrm>
            <a:off x="3657600" y="2395727"/>
            <a:ext cx="109728" cy="109728"/>
          </a:xfrm>
          <a:prstGeom prst="ellipse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313432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証券会社でのトレーディング・コンプライアンス経験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2898647"/>
            <a:ext cx="109728" cy="109728"/>
          </a:xfrm>
          <a:prstGeom prst="ellipse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816351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金融当局（SESC）での検査官経験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0" y="3401567"/>
            <a:ext cx="109728" cy="109728"/>
          </a:xfrm>
          <a:prstGeom prst="ellipse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3319271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大手金融機関での内部監査（Deputy Head）経験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3977639"/>
            <a:ext cx="7315200" cy="1371600"/>
          </a:xfrm>
          <a:prstGeom prst="roundRect">
            <a:avLst>
              <a:gd name="adj" fmla="val 6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4160519"/>
            <a:ext cx="6766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4510"/>
                </a:solidFill>
                <a:latin typeface="Yu Gothic"/>
              </a:rPr>
              <a:t>リスクを見極め、第三者の視点で検証してきた経験は、製品の安全性やデータの信頼性を担保しながら事業を運営する力に直結する。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Azumaya Innovations LLC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63C"/>
                </a:solidFill>
                <a:latin typeface="Yu Gothic"/>
              </a:rPr>
              <a:t>LONG-TERM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Yu Gothic"/>
              </a:rPr>
              <a:t>Podを売る会社ではなく、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3A63C"/>
                </a:solidFill>
                <a:latin typeface="Yu Gothic"/>
              </a:rPr>
              <a:t>認知パフォーマンスを支えるインフラへ。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77639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B7F9E"/>
                </a:solidFill>
                <a:latin typeface="Yu Gothic"/>
              </a:rPr>
              <a:t>これは現時点の実態ではなく、Azumayaが将来に向けて掲げるビジョンである。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Azumaya Innovations LLC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63C"/>
                </a:solidFill>
                <a:latin typeface="Yu Gothic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41B2E"/>
                </a:solidFill>
                <a:latin typeface="Yu Gothic"/>
              </a:rPr>
              <a:t>現時点で求めること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058400" cy="3474720"/>
          </a:xfrm>
          <a:prstGeom prst="roundRect">
            <a:avLst>
              <a:gd name="adj" fmla="val 5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058400" cy="3474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8A93A6"/>
                </a:solidFill>
                <a:latin typeface="Yu Gothic"/>
              </a:rPr>
              <a:t>［ 応募先ごとに記入 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93A6"/>
                </a:solidFill>
                <a:latin typeface="Yu Gothic"/>
              </a:rPr>
              <a:t>例：採択、出資、実証パートナー、パートナー企業マッチング 等（差分版作成時に確定）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Azumaya Innovations LLC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63C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41B2E"/>
                </a:solidFill>
                <a:latin typeface="Yu Gothic"/>
              </a:rPr>
              <a:t>補足情報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058400" cy="914400"/>
          </a:xfrm>
          <a:prstGeom prst="roundRect">
            <a:avLst>
              <a:gd name="adj" fmla="val 6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2E"/>
                </a:solidFill>
                <a:latin typeface="Yu Gothic"/>
              </a:rPr>
              <a:t>製造体制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05740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E2433"/>
                </a:solidFill>
                <a:latin typeface="Yu Gothic"/>
              </a:rPr>
              <a:t>ファブレスモデル。製造パートナー：MagnaRecta（交渉再開）。第二候補としてxeffect.comにNDA前提で打診中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10058400" cy="914400"/>
          </a:xfrm>
          <a:prstGeom prst="roundRect">
            <a:avLst>
              <a:gd name="adj" fmla="val 6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54679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2E"/>
                </a:solidFill>
                <a:latin typeface="Yu Gothic"/>
              </a:rPr>
              <a:t>Webサイト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15467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E2433"/>
                </a:solidFill>
                <a:latin typeface="Yu Gothic"/>
              </a:rPr>
              <a:t>azumayapod.com（Netlifyへ移行済み、DNS・SSL・Search Console設定済み）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14800"/>
            <a:ext cx="10058400" cy="914400"/>
          </a:xfrm>
          <a:prstGeom prst="roundRect">
            <a:avLst>
              <a:gd name="adj" fmla="val 6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2E"/>
                </a:solidFill>
                <a:latin typeface="Yu Gothic"/>
              </a:rPr>
              <a:t>会社概要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25196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E2433"/>
                </a:solidFill>
                <a:latin typeface="Yu Gothic"/>
              </a:rPr>
              <a:t>Azumaya Innovations合同会社（2025年7月1日設立、世田谷区）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Azumaya Innovations LLC  |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